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5EEAD4"/>
                </a:solidFill>
                <a:latin typeface="Segoe UI"/>
              </a:rPr>
              <a:t>🇵🇰  URDUSTACK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6400" b="1" i="0">
                <a:solidFill>
                  <a:srgbClr val="FFFFFF"/>
                </a:solidFill>
                <a:latin typeface="Segoe UI"/>
              </a:rPr>
              <a:t>UrduStack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5EEAD4"/>
                </a:solidFill>
                <a:latin typeface="Segoe UI"/>
              </a:rPr>
              <a:t>Stop Roman-Urdu job scams before the click.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0" i="0">
                <a:solidFill>
                  <a:srgbClr val="D1D5DB"/>
                </a:solidFill>
                <a:latin typeface="Segoe UI"/>
              </a:rPr>
              <a:t>Code-switch-aware Urdu NLP infrastructure for scam and harassment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1208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Shahoud Shahid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6875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521208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Munaza Tariq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6875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Pakistani digital text defeats English-only, keyword-based moderation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7F1D1D"/>
                </a:solidFill>
                <a:latin typeface="Segoe UI"/>
              </a:rPr>
              <a:t>A real scam ad, verbatim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0" i="0">
                <a:solidFill>
                  <a:srgbClr val="111827"/>
                </a:solidFill>
                <a:latin typeface="Consolas"/>
              </a:rPr>
              <a:t>"Urgent hiring! 50000 per week,</a:t>
            </a:r>
          </a:p>
          <a:p>
            <a:pPr algn="l">
              <a:lnSpc>
                <a:spcPct val="108000"/>
              </a:lnSpc>
            </a:pPr>
            <a:r>
              <a:rPr sz="2000" b="0" i="0">
                <a:solidFill>
                  <a:srgbClr val="111827"/>
                </a:solidFill>
                <a:latin typeface="Consolas"/>
              </a:rPr>
              <a:t>send processing fee to register."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37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1">
                <a:solidFill>
                  <a:srgbClr val="6B7280"/>
                </a:solidFill>
                <a:latin typeface="Segoe UI"/>
              </a:rPr>
              <a:t>Roman Urdu / English — no Urdu script at 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68112" cy="192024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38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E3A8A"/>
                </a:solidFill>
                <a:latin typeface="Segoe UI"/>
              </a:rPr>
              <a:t>Three scripts, one 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95728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>
                <a:solidFill>
                  <a:srgbClr val="111827"/>
                </a:solidFill>
                <a:latin typeface="Segoe UI"/>
              </a:rPr>
              <a:t>•  Urdu script, Roman Urdu, and English mix freely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>
                <a:solidFill>
                  <a:srgbClr val="111827"/>
                </a:solidFill>
                <a:latin typeface="Segoe UI"/>
              </a:rPr>
              <a:t>•  Often within the same message, sometimes the same sentence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111827"/>
                </a:solidFill>
                <a:latin typeface="Segoe UI"/>
              </a:rPr>
              <a:t>•  English-only keyword filters miss it entirely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6B7280"/>
                </a:solidFill>
                <a:latin typeface="Segoe UI"/>
              </a:rPr>
              <a:t>     "processing fee" still slips past leetspeak, spacing tricks, and misspellings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111827"/>
                </a:solidFill>
                <a:latin typeface="Segoe UI"/>
              </a:rPr>
              <a:t>•  The harm is real and documented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6B7280"/>
                </a:solidFill>
                <a:latin typeface="Segoe UI"/>
              </a:rPr>
              <a:t>     Fake job postings on Facebook, WhatsApp, and OLX target Pakistani students and jobseekers who lose money to advance-fee scams — alongside abusive and harassing content in the same mixed 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Normalize the code-switching first, then score with a model trained for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 b="1">
                <a:solidFill>
                  <a:srgbClr val="111827"/>
                </a:solidFill>
                <a:latin typeface="Segoe UI"/>
              </a:rPr>
              <a:t>•  Normalize first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6B7280"/>
                </a:solidFill>
                <a:latin typeface="Segoe UI"/>
              </a:rPr>
              <a:t>     Roman Urdu / English / Urdu script → one consistent Urdu-script representation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 b="1">
                <a:solidFill>
                  <a:srgbClr val="111827"/>
                </a:solidFill>
                <a:latin typeface="Segoe UI"/>
              </a:rPr>
              <a:t>•  Score with a real trained model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6B7280"/>
                </a:solidFill>
                <a:latin typeface="Segoe UI"/>
              </a:rPr>
              <a:t>     LoRA-tuned XLM-RoBERTa + a hardened heuristic layer, combined — not a keyword list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 b="1">
                <a:solidFill>
                  <a:srgbClr val="111827"/>
                </a:solidFill>
                <a:latin typeface="Segoe UI"/>
              </a:rPr>
              <a:t>•  Explain the verdict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6B7280"/>
                </a:solidFill>
                <a:latin typeface="Segoe UI"/>
              </a:rPr>
              <a:t>     Shows which phrases drove the score, the threat type, and specific next steps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 b="1">
                <a:solidFill>
                  <a:srgbClr val="111827"/>
                </a:solidFill>
                <a:latin typeface="Segoe UI"/>
              </a:rPr>
              <a:t>•  Self-hosted, on-device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6B7280"/>
                </a:solidFill>
                <a:latin typeface="Segoe UI"/>
              </a:rPr>
              <a:t>     No data leaves the deployment, $0 per request, sub-second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5330952" cy="402336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11827"/>
                </a:solidFill>
                <a:latin typeface="Segoe UI"/>
              </a:rPr>
              <a:t>Why not just prompt GPT-4o?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423160"/>
            <a:ext cx="4892040" cy="502920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49631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UrduStack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49631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GPT-4o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990088"/>
            <a:ext cx="489204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08152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6B7280"/>
                </a:solidFill>
                <a:latin typeface="Segoe UI"/>
              </a:rPr>
              <a:t>Cost /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8152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0F766E"/>
                </a:solidFill>
                <a:latin typeface="Segoe UI"/>
              </a:rPr>
              <a:t>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3081528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991B1B"/>
                </a:solidFill>
                <a:latin typeface="Segoe UI"/>
              </a:rPr>
              <a:t>~$0.01–0.03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557015"/>
            <a:ext cx="4892040" cy="502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648455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6B7280"/>
                </a:solidFill>
                <a:latin typeface="Segoe UI"/>
              </a:rPr>
              <a:t>Data stays 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648455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0F766E"/>
                </a:solidFill>
                <a:latin typeface="Segoe UI"/>
              </a:rP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648455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991B1B"/>
                </a:solidFill>
                <a:latin typeface="Segoe UI"/>
              </a:rPr>
              <a:t>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4123944"/>
            <a:ext cx="489204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21538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6B7280"/>
                </a:solidFill>
                <a:latin typeface="Segoe UI"/>
              </a:rPr>
              <a:t>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215384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0F766E"/>
                </a:solidFill>
                <a:latin typeface="Segoe UI"/>
              </a:rPr>
              <a:t>Sub-second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215384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991B1B"/>
                </a:solidFill>
                <a:latin typeface="Segoe UI"/>
              </a:rPr>
              <a:t>1–3 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4690872"/>
            <a:ext cx="4892040" cy="502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7823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6B7280"/>
                </a:solidFill>
                <a:latin typeface="Segoe UI"/>
              </a:rPr>
              <a:t>Offline capable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782312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0F766E"/>
                </a:solidFill>
                <a:latin typeface="Segoe UI"/>
              </a:rPr>
              <a:t>Yes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4782312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991B1B"/>
                </a:solidFill>
                <a:latin typeface="Segoe UI"/>
              </a:rP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Six implemented capabilities, verified end-to-end against the real trained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611880" cy="178308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99339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0" i="0">
                <a:solidFill>
                  <a:srgbClr val="111827"/>
                </a:solidFill>
                <a:latin typeface="Segoe UI"/>
              </a:rPr>
              <a:t>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42032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1E3A8A"/>
                </a:solidFill>
                <a:latin typeface="Segoe UI"/>
              </a:rPr>
              <a:t>Code-Switch Normalization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035808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Dictionary + FAISS retrieval + phonetic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178308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9339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0" i="0">
                <a:solidFill>
                  <a:srgbClr val="111827"/>
                </a:solidFill>
                <a:latin typeface="Segoe UI"/>
              </a:rPr>
              <a:t>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542032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7F1D1D"/>
                </a:solidFill>
                <a:latin typeface="Segoe UI"/>
              </a:rPr>
              <a:t>Explainable Risk Scoring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3035808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LoRA model + heuristic ensemble, F1 87.1%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611880" cy="1783080"/>
          </a:xfrm>
          <a:prstGeom prst="roundRect">
            <a:avLst>
              <a:gd name="adj" fmla="val 6000"/>
            </a:avLst>
          </a:prstGeom>
          <a:solidFill>
            <a:srgbClr val="FDF4FF"/>
          </a:solidFill>
          <a:ln w="1270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9339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0" i="0">
                <a:solidFill>
                  <a:srgbClr val="111827"/>
                </a:solidFill>
                <a:latin typeface="Segoe UI"/>
              </a:rPr>
              <a:t>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542032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581C87"/>
                </a:solidFill>
                <a:latin typeface="Segoe UI"/>
              </a:rPr>
              <a:t>Multi-Category Threat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3035808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Job scam / phishing / harassment, each with advice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94760"/>
            <a:ext cx="3611880" cy="1783080"/>
          </a:xfrm>
          <a:prstGeom prst="roundRect">
            <a:avLst>
              <a:gd name="adj" fmla="val 6000"/>
            </a:avLst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9593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0" i="0">
                <a:solidFill>
                  <a:srgbClr val="111827"/>
                </a:solidFill>
                <a:latin typeface="Segoe UI"/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507992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F766E"/>
                </a:solidFill>
                <a:latin typeface="Segoe UI"/>
              </a:rPr>
              <a:t>Named Entity Recognition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001768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PERSON / LOCATION / ORGANIZATION — informational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794760"/>
            <a:ext cx="3611880" cy="178308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8848" y="39593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0" i="0">
                <a:solidFill>
                  <a:srgbClr val="111827"/>
                </a:solidFill>
                <a:latin typeface="Segoe UI"/>
              </a:rPr>
              <a:t>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507992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78350F"/>
                </a:solidFill>
                <a:latin typeface="Segoe UI"/>
              </a:rPr>
              <a:t>Speech-to-Text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5001768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Whisper transcribes spoken Urdu into the pipeline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794760"/>
            <a:ext cx="3611880" cy="17830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39593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0" i="0">
                <a:solidFill>
                  <a:srgbClr val="111827"/>
                </a:solidFill>
                <a:latin typeface="Segoe UI"/>
              </a:rPr>
              <a:t>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4507992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65F46"/>
                </a:solidFill>
                <a:latin typeface="Segoe UI"/>
              </a:rPr>
              <a:t>Plain-Language Simplify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5001768"/>
            <a:ext cx="3209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Rewrites verdicts into everyday Urdu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One FastAPI process, one ModelManager, three real entry points, no external database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331720" cy="84124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87452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1E3A8A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1226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E3A8A"/>
                </a:solidFill>
                <a:latin typeface="Segoe UI"/>
              </a:rPr>
              <a:t>Entry Surfaces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1783080"/>
            <a:ext cx="857707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" y="2002536"/>
            <a:ext cx="946403" cy="420624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" y="2002536"/>
            <a:ext cx="94640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1E3A8A"/>
                </a:solidFill>
                <a:latin typeface="Segoe UI"/>
              </a:rPr>
              <a:t>Website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4422" y="2002536"/>
            <a:ext cx="1906524" cy="420624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4422" y="2002536"/>
            <a:ext cx="19065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1E3A8A"/>
                </a:solidFill>
                <a:latin typeface="Segoe UI"/>
              </a:rPr>
              <a:t>Gradio Playground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2" y="2002536"/>
            <a:ext cx="1426464" cy="420624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2" y="2002536"/>
            <a:ext cx="14264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1E3A8A"/>
                </a:solidFill>
                <a:latin typeface="Segoe UI"/>
              </a:rPr>
              <a:t>WhatsApp Bot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627632" y="2606040"/>
            <a:ext cx="274320" cy="155448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734056"/>
            <a:ext cx="2331720" cy="841248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825496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78350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0632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78350F"/>
                </a:solidFill>
                <a:latin typeface="Segoe UI"/>
              </a:rPr>
              <a:t>FastAPI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2734056"/>
            <a:ext cx="857707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" y="2953512"/>
            <a:ext cx="1234440" cy="42062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" y="2953512"/>
            <a:ext cx="1234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8350F"/>
                </a:solidFill>
                <a:latin typeface="Segoe UI"/>
              </a:rPr>
              <a:t>/normalize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9" y="2953512"/>
            <a:ext cx="1330452" cy="42062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62459" y="2953512"/>
            <a:ext cx="13304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8350F"/>
                </a:solidFill>
                <a:latin typeface="Segoe UI"/>
              </a:rPr>
              <a:t>/risk-score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20927" y="2953512"/>
            <a:ext cx="658368" cy="42062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0927" y="2953512"/>
            <a:ext cx="65836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8350F"/>
                </a:solidFill>
                <a:latin typeface="Segoe UI"/>
              </a:rPr>
              <a:t>/ner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7311" y="2953512"/>
            <a:ext cx="1042415" cy="42062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7311" y="2953512"/>
            <a:ext cx="10424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8350F"/>
                </a:solidFill>
                <a:latin typeface="Segoe UI"/>
              </a:rPr>
              <a:t>/analyze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77742" y="2953512"/>
            <a:ext cx="1138428" cy="42062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7742" y="2953512"/>
            <a:ext cx="113842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8350F"/>
                </a:solidFill>
                <a:latin typeface="Segoe UI"/>
              </a:rPr>
              <a:t>/feedback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627632" y="3557016"/>
            <a:ext cx="274320" cy="155448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685032"/>
            <a:ext cx="2331720" cy="841248"/>
          </a:xfrm>
          <a:prstGeom prst="roundRect">
            <a:avLst>
              <a:gd name="adj" fmla="val 6000"/>
            </a:avLst>
          </a:prstGeom>
          <a:solidFill>
            <a:srgbClr val="FDF4FF"/>
          </a:solidFill>
          <a:ln w="1270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776472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581C87"/>
                </a:solidFill>
                <a:latin typeface="Segoe U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01421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581C87"/>
                </a:solidFill>
                <a:latin typeface="Segoe UI"/>
              </a:rPr>
              <a:t>ModelManager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3685032"/>
            <a:ext cx="857707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" y="3904488"/>
            <a:ext cx="1906524" cy="420624"/>
          </a:xfrm>
          <a:prstGeom prst="roundRect">
            <a:avLst>
              <a:gd name="adj" fmla="val 6000"/>
            </a:avLst>
          </a:prstGeom>
          <a:solidFill>
            <a:srgbClr val="FD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" y="3904488"/>
            <a:ext cx="19065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581C87"/>
                </a:solidFill>
                <a:latin typeface="Segoe UI"/>
              </a:rPr>
              <a:t>Lazy-loads models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34543" y="3904488"/>
            <a:ext cx="2290572" cy="420624"/>
          </a:xfrm>
          <a:prstGeom prst="roundRect">
            <a:avLst>
              <a:gd name="adj" fmla="val 6000"/>
            </a:avLst>
          </a:prstGeom>
          <a:solidFill>
            <a:srgbClr val="FD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34543" y="3904488"/>
            <a:ext cx="22905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581C87"/>
                </a:solidFill>
                <a:latin typeface="Segoe UI"/>
              </a:rPr>
              <a:t>Orchestrates pipeline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53131" y="3904488"/>
            <a:ext cx="1906524" cy="420624"/>
          </a:xfrm>
          <a:prstGeom prst="roundRect">
            <a:avLst>
              <a:gd name="adj" fmla="val 6000"/>
            </a:avLst>
          </a:prstGeom>
          <a:solidFill>
            <a:srgbClr val="FD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3131" y="3904488"/>
            <a:ext cx="19065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581C87"/>
                </a:solidFill>
                <a:latin typeface="Segoe UI"/>
              </a:rPr>
              <a:t>Graceful fallback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1627632" y="4507992"/>
            <a:ext cx="274320" cy="155448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4636008"/>
            <a:ext cx="2331720" cy="841248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472744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065F46"/>
                </a:solidFill>
                <a:latin typeface="Segoe U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" y="496519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F46"/>
                </a:solidFill>
                <a:latin typeface="Segoe UI"/>
              </a:rPr>
              <a:t>Core Modules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63240" y="4636008"/>
            <a:ext cx="857707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" y="4855464"/>
            <a:ext cx="1234440" cy="42062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" y="4855464"/>
            <a:ext cx="1234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065F46"/>
                </a:solidFill>
                <a:latin typeface="Segoe UI"/>
              </a:rPr>
              <a:t>Normalizer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62459" y="4855464"/>
            <a:ext cx="1330452" cy="42062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62459" y="4855464"/>
            <a:ext cx="13304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065F46"/>
                </a:solidFill>
                <a:latin typeface="Segoe UI"/>
              </a:rPr>
              <a:t>Risk Scorer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20927" y="4855464"/>
            <a:ext cx="562356" cy="42062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0927" y="4855464"/>
            <a:ext cx="5623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065F46"/>
                </a:solidFill>
                <a:latin typeface="Segoe UI"/>
              </a:rPr>
              <a:t>NER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1299" y="4855464"/>
            <a:ext cx="562356" cy="42062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11299" y="4855464"/>
            <a:ext cx="5623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065F46"/>
                </a:solidFill>
                <a:latin typeface="Segoe UI"/>
              </a:rPr>
              <a:t>STT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01671" y="4855464"/>
            <a:ext cx="1042415" cy="42062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1671" y="4855464"/>
            <a:ext cx="10424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065F46"/>
                </a:solidFill>
                <a:latin typeface="Segoe UI"/>
              </a:rPr>
              <a:t>Simplify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1627632" y="5458968"/>
            <a:ext cx="274320" cy="155448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8640" y="5586984"/>
            <a:ext cx="2331720" cy="841248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567842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7F1D1D"/>
                </a:solidFill>
                <a:latin typeface="Segoe UI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" y="591616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7F1D1D"/>
                </a:solidFill>
                <a:latin typeface="Segoe UI"/>
              </a:rPr>
              <a:t>Models &amp; Data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063240" y="5586984"/>
            <a:ext cx="857707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" y="5806440"/>
            <a:ext cx="2290572" cy="42062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" y="5806440"/>
            <a:ext cx="22905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F1D1D"/>
                </a:solidFill>
                <a:latin typeface="Segoe UI"/>
              </a:rPr>
              <a:t>LoRA adapter (4.5 MB)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418591" y="5806440"/>
            <a:ext cx="2098548" cy="42062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18591" y="5806440"/>
            <a:ext cx="209854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F1D1D"/>
                </a:solidFill>
                <a:latin typeface="Segoe UI"/>
              </a:rPr>
              <a:t>485-word dictionary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45155" y="5806440"/>
            <a:ext cx="1426464" cy="42062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45155" y="5806440"/>
            <a:ext cx="14264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7F1D1D"/>
                </a:solidFill>
                <a:latin typeface="Segoe UI"/>
              </a:rPr>
              <a:t>feedback.csv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1">
                <a:solidFill>
                  <a:srgbClr val="6B7280"/>
                </a:solidFill>
                <a:latin typeface="Segoe UI"/>
              </a:rPr>
              <a:t>Self-hosted: Docker → Hugging Face Spaces, or Colab T4 GPU with a public share link.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One request, six pipeline stages — analyze_text() in app/models/model_manager.py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691640" cy="237744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130552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43200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 i="0">
                <a:solidFill>
                  <a:srgbClr val="1E3A8A"/>
                </a:solidFill>
                <a:latin typeface="Segoe UI"/>
              </a:rPr>
              <a:t>Normalize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Code-switched text →</a:t>
            </a:r>
          </a:p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Urdu script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3063240"/>
            <a:ext cx="18288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1965960"/>
            <a:ext cx="1691640" cy="237744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35224" y="2130552"/>
            <a:ext cx="502920" cy="502920"/>
          </a:xfrm>
          <a:prstGeom prst="ellipse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2743200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 i="0">
                <a:solidFill>
                  <a:srgbClr val="7F1D1D"/>
                </a:solidFill>
                <a:latin typeface="Segoe UI"/>
              </a:rPr>
              <a:t>Risk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2304" y="3200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Max-ensemble:</a:t>
            </a:r>
          </a:p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LoRA vs. heuristic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14216" y="3063240"/>
            <a:ext cx="18288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78808" y="1965960"/>
            <a:ext cx="1691640" cy="2377440"/>
          </a:xfrm>
          <a:prstGeom prst="roundRect">
            <a:avLst>
              <a:gd name="adj" fmla="val 6000"/>
            </a:avLst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73168" y="2130552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2743200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 i="0">
                <a:solidFill>
                  <a:srgbClr val="0F766E"/>
                </a:solidFill>
                <a:latin typeface="Segoe UI"/>
              </a:rPr>
              <a:t>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3200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Extract PERSON /</a:t>
            </a:r>
          </a:p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LOCATION / ORG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52160" y="3063240"/>
            <a:ext cx="18288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16752" y="1965960"/>
            <a:ext cx="1691640" cy="2377440"/>
          </a:xfrm>
          <a:prstGeom prst="roundRect">
            <a:avLst>
              <a:gd name="adj" fmla="val 6000"/>
            </a:avLst>
          </a:prstGeom>
          <a:solidFill>
            <a:srgbClr val="FDF4FF"/>
          </a:solidFill>
          <a:ln w="1270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11112" y="2130552"/>
            <a:ext cx="502920" cy="502920"/>
          </a:xfrm>
          <a:prstGeom prst="ellipse">
            <a:avLst/>
          </a:prstGeom>
          <a:solidFill>
            <a:srgbClr val="581C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743200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 i="0">
                <a:solidFill>
                  <a:srgbClr val="581C87"/>
                </a:solidFill>
                <a:latin typeface="Segoe UI"/>
              </a:rPr>
              <a:t>Categorize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3200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Job scam / phishing /</a:t>
            </a:r>
          </a:p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harassment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690104" y="3063240"/>
            <a:ext cx="18288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54696" y="1965960"/>
            <a:ext cx="1691640" cy="23774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49056" y="2130552"/>
            <a:ext cx="502920" cy="502920"/>
          </a:xfrm>
          <a:prstGeom prst="ellipse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6136" y="2743200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 i="0">
                <a:solidFill>
                  <a:srgbClr val="78350F"/>
                </a:solidFill>
                <a:latin typeface="Segoe UI"/>
              </a:rPr>
              <a:t>Simplify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3200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Plain-language</a:t>
            </a:r>
          </a:p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Urdu explanation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28048" y="3063240"/>
            <a:ext cx="18288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92640" y="1965960"/>
            <a:ext cx="1691640" cy="23774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87000" y="2130552"/>
            <a:ext cx="502920" cy="502920"/>
          </a:xfrm>
          <a:prstGeom prst="ellipse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743200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 i="0">
                <a:solidFill>
                  <a:srgbClr val="065F46"/>
                </a:solidFill>
                <a:latin typeface="Segoe UI"/>
              </a:rPr>
              <a:t>Recommend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200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Actionable,</a:t>
            </a:r>
          </a:p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111827"/>
                </a:solidFill>
                <a:latin typeface="Segoe UI"/>
              </a:rPr>
              <a:t>category-specific advice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6460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Example, live: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193792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0" i="0">
                <a:solidFill>
                  <a:srgbClr val="0F766E"/>
                </a:solidFill>
                <a:latin typeface="Consolas"/>
              </a:rPr>
              <a:t>"job available 50000 per week send processing fee"  →  score 1.00, HIGH, "Fake Job Posting"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623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1">
                <a:solidFill>
                  <a:srgbClr val="6B7280"/>
                </a:solidFill>
                <a:latin typeface="Segoe UI"/>
              </a:rPr>
              <a:t>Every stage runs in-process — no external API calls, sub-second response.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Real technologies, real numbers — every figure below is from a committed, reproducible test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F766E"/>
                </a:solidFill>
                <a:latin typeface="Segoe UI"/>
              </a:rPr>
              <a:t>Model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1284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374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xlm-roberta-base — 270M 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8152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Fine-tuning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9242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LoRA, r=16, α=32 → 4.5 MB adapter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5020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Training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6110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~80k rows: PURUTT (72.7k) + synthetic scam (1.5k) + supplementary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1888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2978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Temperature scaling, T = 1.409 (grid search, 100 values)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7830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F766E"/>
                </a:solidFill>
                <a:latin typeface="Segoe UI"/>
              </a:rPr>
              <a:t>Stack &amp; Tooling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21284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52374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FastAPI + Pydantic, PEFT, Transformers, PyTorch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8152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39242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XLM-RoBERTa fine-tuned on WikiAnn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95020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Speech-to-text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6110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OpenAI Whisper (base)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81888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11827"/>
                </a:solidFill>
                <a:latin typeface="Segoe UI"/>
              </a:rPr>
              <a:t>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12978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B7280"/>
                </a:solidFill>
                <a:latin typeface="Segoe UI"/>
              </a:rPr>
              <a:t>FAISS + char-3-gram TF-IDF for fuzzy normalization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Verified: 89.7% accuracy · 87.1% F1 (107 test examples) · 12/12 adversarial cases · 46/46 unit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UI/UX &amp;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Real, live output — not a mockup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gradio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972" y="1783080"/>
            <a:ext cx="3365334" cy="4617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783080"/>
            <a:ext cx="6949440" cy="46177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F766E"/>
                </a:solidFill>
                <a:latin typeface="Segoe UI"/>
              </a:rPr>
              <a:t>What the user sees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94560"/>
            <a:ext cx="40233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>
                <a:solidFill>
                  <a:srgbClr val="111827"/>
                </a:solidFill>
                <a:latin typeface="Segoe UI"/>
              </a:rPr>
              <a:t>•  Paste any suspicious text — Roman Urdu, Urdu script, or English mix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>
                <a:solidFill>
                  <a:srgbClr val="111827"/>
                </a:solidFill>
                <a:latin typeface="Segoe UI"/>
              </a:rPr>
              <a:t>•  Risk verdict with score and confidence, in one glance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>
                <a:solidFill>
                  <a:srgbClr val="111827"/>
                </a:solidFill>
                <a:latin typeface="Segoe UI"/>
              </a:rPr>
              <a:t>•  Threat type: fake job posting, phishing, or harassment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>
                <a:solidFill>
                  <a:srgbClr val="111827"/>
                </a:solidFill>
                <a:latin typeface="Segoe UI"/>
              </a:rPr>
              <a:t>•  Exactly which phrases drove the score, with weights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>
                <a:solidFill>
                  <a:srgbClr val="111827"/>
                </a:solidFill>
                <a:latin typeface="Segoe UI"/>
              </a:rPr>
              <a:t>•  Normalized Urdu-script text, and a plain-language explanation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>
                <a:solidFill>
                  <a:srgbClr val="111827"/>
                </a:solidFill>
                <a:latin typeface="Segoe UI"/>
              </a:rPr>
              <a:t>•  A specific recommendation — not just a red flag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>
                <a:solidFill>
                  <a:srgbClr val="111827"/>
                </a:solidFill>
                <a:latin typeface="Segoe UI"/>
              </a:rPr>
              <a:t>•  Optional feedback loop feeds future 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11827"/>
                </a:solidFill>
                <a:latin typeface="Segoe UI"/>
              </a:rPr>
              <a:t>Impact &amp;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385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6B7280"/>
                </a:solidFill>
                <a:latin typeface="Segoe UI"/>
              </a:rPr>
              <a:t>Built for the people existing tools don't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7904"/>
            <a:ext cx="1109167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 b="1">
                <a:solidFill>
                  <a:srgbClr val="111827"/>
                </a:solidFill>
                <a:latin typeface="Segoe UI"/>
              </a:rPr>
              <a:t>•  Protects a real, underserved population</a:t>
            </a:r>
          </a:p>
          <a:p>
            <a:pPr>
              <a:spcAft>
                <a:spcPts val="1600"/>
              </a:spcAft>
            </a:pPr>
            <a:r>
              <a:rPr sz="1400">
                <a:solidFill>
                  <a:srgbClr val="6B7280"/>
                </a:solidFill>
                <a:latin typeface="Segoe UI"/>
              </a:rPr>
              <a:t>     Roman-Urdu speakers fall through the gap between English moderation and Urdu-script-only tools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 b="1">
                <a:solidFill>
                  <a:srgbClr val="111827"/>
                </a:solidFill>
                <a:latin typeface="Segoe UI"/>
              </a:rPr>
              <a:t>•  Explainable, not a black box</a:t>
            </a:r>
          </a:p>
          <a:p>
            <a:pPr>
              <a:spcAft>
                <a:spcPts val="1600"/>
              </a:spcAft>
            </a:pPr>
            <a:r>
              <a:rPr sz="1400">
                <a:solidFill>
                  <a:srgbClr val="6B7280"/>
                </a:solidFill>
                <a:latin typeface="Segoe UI"/>
              </a:rPr>
              <a:t>     Users see why a message was flagged — builds trust, and teaches pattern recognition over time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 b="1">
                <a:solidFill>
                  <a:srgbClr val="111827"/>
                </a:solidFill>
                <a:latin typeface="Segoe UI"/>
              </a:rPr>
              <a:t>•  Meets people where scams land</a:t>
            </a:r>
          </a:p>
          <a:p>
            <a:pPr>
              <a:spcAft>
                <a:spcPts val="1600"/>
              </a:spcAft>
            </a:pPr>
            <a:r>
              <a:rPr sz="1400">
                <a:solidFill>
                  <a:srgbClr val="6B7280"/>
                </a:solidFill>
                <a:latin typeface="Segoe UI"/>
              </a:rPr>
              <a:t>     Website, Gradio demo, and a WhatsApp bot — not locked behind a developer-only API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 b="1">
                <a:solidFill>
                  <a:srgbClr val="111827"/>
                </a:solidFill>
                <a:latin typeface="Segoe UI"/>
              </a:rPr>
              <a:t>•  Zero marginal cost, private by design</a:t>
            </a:r>
          </a:p>
          <a:p>
            <a:pPr>
              <a:spcAft>
                <a:spcPts val="1600"/>
              </a:spcAft>
            </a:pPr>
            <a:r>
              <a:rPr sz="1400">
                <a:solidFill>
                  <a:srgbClr val="6B7280"/>
                </a:solidFill>
                <a:latin typeface="Segoe UI"/>
              </a:rPr>
              <a:t>     Self-hosted; no per-request fee, no data sent to a third-party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5330952" cy="41148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65F46"/>
                </a:solidFill>
                <a:latin typeface="Segoe UI"/>
              </a:rPr>
              <a:t>Scalability &amp; future potential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4231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111827"/>
                </a:solidFill>
                <a:latin typeface="Segoe UI"/>
              </a:rPr>
              <a:t>•  Same architecture extends to other code-switched, under-resourced languages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111827"/>
                </a:solidFill>
                <a:latin typeface="Segoe UI"/>
              </a:rPr>
              <a:t>•  Active-learning feedback loop already collects real corrections for retraining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111827"/>
                </a:solidFill>
                <a:latin typeface="Segoe UI"/>
              </a:rPr>
              <a:t>•  Multi-category detection can expand to lottery, charity, investment, and loan scams — synthetic data for all 7 already exists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>
                <a:solidFill>
                  <a:srgbClr val="111827"/>
                </a:solidFill>
                <a:latin typeface="Segoe UI"/>
              </a:rPr>
              <a:t>•  WhatsApp bot is the highest-leverage distribution channel — reaches victims, not just judges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Conclusion &amp; Future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908792" cy="279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5EEAD4"/>
                </a:solidFill>
                <a:latin typeface="Segoe UI"/>
              </a:rPr>
              <a:t>What we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A working, code-switch-aware detection pipeline — trained, calibrated, and evaluated on real data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Verified semantic generalization beyond keyword matching, not just claimed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Three real, working surfaces sharing one decision engine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Honest, evidence-backed documentation of what works and what doesn't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5EEAD4"/>
                </a:solidFill>
                <a:latin typeface="Segoe UI"/>
              </a:rPr>
              <a:t>What's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Close the remaining threat-detection gaps with targeted retraining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Ship the full 6.37M-sentence frequency map for Tier-1 normalization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Move the WhatsApp bot from demo-time to a persistent, always-on deployment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50">
                <a:solidFill>
                  <a:srgbClr val="FFFFFF"/>
                </a:solidFill>
                <a:latin typeface="Segoe UI"/>
              </a:rPr>
              <a:t>•  Expand multi-category detection to all 7 scam types already in the training data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89320"/>
            <a:ext cx="10908792" cy="594360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108192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UrduStack — because the language your users actually type in deserves real protection.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UrduStack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0" i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