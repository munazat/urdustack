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212848"/>
            <a:ext cx="310896" cy="146304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10312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5EEAD4"/>
                </a:solidFill>
                <a:latin typeface="Segoe UI"/>
              </a:rPr>
              <a:t>PAKISTAN  ·  URDU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6400" b="1" i="0">
                <a:solidFill>
                  <a:srgbClr val="FFFFFF"/>
                </a:solidFill>
                <a:latin typeface="Segoe UI"/>
              </a:rPr>
              <a:t>UrduStack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661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600" b="1" i="0">
                <a:solidFill>
                  <a:srgbClr val="5EEAD4"/>
                </a:solidFill>
                <a:latin typeface="Segoe UI"/>
              </a:rPr>
              <a:t>Stop Roman-Urdu job scams before the click.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0" i="0">
                <a:solidFill>
                  <a:srgbClr val="D1D5DB"/>
                </a:solidFill>
                <a:latin typeface="Segoe UI"/>
              </a:rPr>
              <a:t>Code-switch-aware Urdu NLP infrastructure for scam and harassment detection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120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349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Shahoud Shahid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56875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Team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0" y="521208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5349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1" i="0">
                <a:solidFill>
                  <a:srgbClr val="FFFFFF"/>
                </a:solidFill>
                <a:latin typeface="Segoe UI"/>
              </a:rPr>
              <a:t>Munaza Tariq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68756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Pakistani digital text defeats English-only, keyword-based moderation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783080"/>
            <a:ext cx="5394960" cy="19202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7F1D1D"/>
                </a:solidFill>
                <a:latin typeface="Segoe UI"/>
              </a:rPr>
              <a:t>A real scam ad, verbatim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95728"/>
            <a:ext cx="49377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111827"/>
                </a:solidFill>
                <a:latin typeface="Consolas"/>
              </a:rPr>
              <a:t>"Urgent hiring! 50000 per week,</a:t>
            </a:r>
          </a:p>
          <a:p>
            <a:pPr algn="l">
              <a:lnSpc>
                <a:spcPct val="108000"/>
              </a:lnSpc>
            </a:pPr>
            <a:r>
              <a:rPr sz="2000" b="0" i="0">
                <a:solidFill>
                  <a:srgbClr val="111827"/>
                </a:solidFill>
                <a:latin typeface="Consolas"/>
              </a:rPr>
              <a:t>send processing fee to register."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4937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1">
                <a:solidFill>
                  <a:srgbClr val="6B7280"/>
                </a:solidFill>
                <a:latin typeface="Segoe UI"/>
              </a:rPr>
              <a:t>Roman Urdu / English — no Urdu script at all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83080"/>
            <a:ext cx="5468112" cy="19202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3852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E3A8A"/>
                </a:solidFill>
                <a:latin typeface="Segoe UI"/>
              </a:rPr>
              <a:t>Three scripts, one sentence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95728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111827"/>
                </a:solidFill>
                <a:latin typeface="Segoe UI"/>
              </a:rPr>
              <a:t>•  Urdu script, Roman Urdu, and English mix freely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>
                <a:solidFill>
                  <a:srgbClr val="111827"/>
                </a:solidFill>
                <a:latin typeface="Segoe UI"/>
              </a:rPr>
              <a:t>•  Often within the same message, sometimes the same sentence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977639"/>
            <a:ext cx="110642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111827"/>
                </a:solidFill>
                <a:latin typeface="Segoe UI"/>
              </a:rPr>
              <a:t>•  English-only keyword filters miss it entirely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6B7280"/>
                </a:solidFill>
                <a:latin typeface="Segoe UI"/>
              </a:rPr>
              <a:t>     "processing fee" still slips past leetspeak, spacing tricks, and misspellings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2000" b="1">
                <a:solidFill>
                  <a:srgbClr val="111827"/>
                </a:solidFill>
                <a:latin typeface="Segoe UI"/>
              </a:rPr>
              <a:t>•  The harm is real and documented</a:t>
            </a:r>
          </a:p>
          <a:p>
            <a:pPr>
              <a:spcAft>
                <a:spcPts val="1600"/>
              </a:spcAft>
            </a:pPr>
            <a:r>
              <a:rPr sz="1600">
                <a:solidFill>
                  <a:srgbClr val="6B7280"/>
                </a:solidFill>
                <a:latin typeface="Segoe UI"/>
              </a:rPr>
              <a:t>     Fake job postings on Facebook, WhatsApp, and OLX target Pakistani students and jobseekers who lose money to advance-fee scams — alongside abusive and harassing content in the same mixed script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Normalize the code-switching first, then score with a model trained for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4864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111827"/>
                </a:solidFill>
                <a:latin typeface="Segoe UI"/>
              </a:rPr>
              <a:t>•  Normalize first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Segoe UI"/>
              </a:rPr>
              <a:t>     Roman Urdu / English / Urdu script → one consistent Urdu-script representation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111827"/>
                </a:solidFill>
                <a:latin typeface="Segoe UI"/>
              </a:rPr>
              <a:t>•  Score with a real trained model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Segoe UI"/>
              </a:rPr>
              <a:t>     LoRA-tuned XLM-RoBERTa + a hardened heuristic layer, combined — not a keyword list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111827"/>
                </a:solidFill>
                <a:latin typeface="Segoe UI"/>
              </a:rPr>
              <a:t>•  Explain the verdict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Segoe UI"/>
              </a:rPr>
              <a:t>     Shows which phrases drove the score, the threat type, and specific next steps</a:t>
            </a:r>
          </a:p>
          <a:p>
            <a:pPr>
              <a:lnSpc>
                <a:spcPct val="112000"/>
              </a:lnSpc>
              <a:spcAft>
                <a:spcPts val="1800"/>
              </a:spcAft>
            </a:pPr>
            <a:r>
              <a:rPr sz="1900" b="1">
                <a:solidFill>
                  <a:srgbClr val="111827"/>
                </a:solidFill>
                <a:latin typeface="Segoe UI"/>
              </a:rPr>
              <a:t>•  Self-hosted, on-device</a:t>
            </a:r>
          </a:p>
          <a:p>
            <a:pPr>
              <a:spcAft>
                <a:spcPts val="1800"/>
              </a:spcAft>
            </a:pPr>
            <a:r>
              <a:rPr sz="1500">
                <a:solidFill>
                  <a:srgbClr val="6B7280"/>
                </a:solidFill>
                <a:latin typeface="Segoe UI"/>
              </a:rPr>
              <a:t>     No data leaves the deployment, $0 per request, sub-second latency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330952" cy="402336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3852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111827"/>
                </a:solidFill>
                <a:latin typeface="Segoe UI"/>
              </a:rPr>
              <a:t>Why not just prompt GPT-4o?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2423160"/>
            <a:ext cx="4892040" cy="50292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2496312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UrduStack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496312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GPT-4o 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990088"/>
            <a:ext cx="4892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3081528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6B7280"/>
                </a:solidFill>
                <a:latin typeface="Segoe UI"/>
              </a:rPr>
              <a:t>Cost /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3081528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F766E"/>
                </a:solidFill>
                <a:latin typeface="Segoe UI"/>
              </a:rPr>
              <a:t>$0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3081528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991B1B"/>
                </a:solidFill>
                <a:latin typeface="Segoe UI"/>
              </a:rPr>
              <a:t>~$0.01–0.03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3557015"/>
            <a:ext cx="4892040" cy="502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648455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6B7280"/>
                </a:solidFill>
                <a:latin typeface="Segoe UI"/>
              </a:rPr>
              <a:t>Data stays local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648455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F766E"/>
                </a:solidFill>
                <a:latin typeface="Segoe UI"/>
              </a:rPr>
              <a:t>Yes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648455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991B1B"/>
                </a:solidFill>
                <a:latin typeface="Segoe UI"/>
              </a:rPr>
              <a:t>No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37960" y="4123944"/>
            <a:ext cx="48920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215384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6B7280"/>
                </a:solidFill>
                <a:latin typeface="Segoe UI"/>
              </a:rPr>
              <a:t>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4215384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F766E"/>
                </a:solidFill>
                <a:latin typeface="Segoe UI"/>
              </a:rPr>
              <a:t>Sub-second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4215384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991B1B"/>
                </a:solidFill>
                <a:latin typeface="Segoe UI"/>
              </a:rPr>
              <a:t>1–3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37960" y="4690872"/>
            <a:ext cx="4892040" cy="50292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0" y="4782312"/>
            <a:ext cx="2103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 b="0" i="0">
                <a:solidFill>
                  <a:srgbClr val="6B7280"/>
                </a:solidFill>
                <a:latin typeface="Segoe UI"/>
              </a:rPr>
              <a:t>Offline capable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82312"/>
            <a:ext cx="1097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F766E"/>
                </a:solidFill>
                <a:latin typeface="Segoe UI"/>
              </a:rPr>
              <a:t>Yes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4782312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0" i="0">
                <a:solidFill>
                  <a:srgbClr val="991B1B"/>
                </a:solidFill>
                <a:latin typeface="Segoe UI"/>
              </a:rPr>
              <a:t>No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Key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Six implemented capabilities, verified end-to-end against the real trained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9933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827"/>
                </a:solidFill>
                <a:latin typeface="Segoe UI"/>
              </a:rPr>
              <a:t>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54203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1E3A8A"/>
                </a:solidFill>
                <a:latin typeface="Segoe UI"/>
              </a:rPr>
              <a:t>Code-Switch 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303580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Dictionary + FAISS retrieval + phonetic fallback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8288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19933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827"/>
                </a:solidFill>
                <a:latin typeface="Segoe UI"/>
              </a:rPr>
              <a:t>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54203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7F1D1D"/>
                </a:solidFill>
                <a:latin typeface="Segoe UI"/>
              </a:rPr>
              <a:t>Explainable Risk Scoring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8848" y="303580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LoRA model + heuristic ensemble, F1 87.1%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2880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DF4FF"/>
          </a:solidFill>
          <a:ln w="12700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99339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827"/>
                </a:solidFill>
                <a:latin typeface="Segoe UI"/>
              </a:rPr>
              <a:t>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254203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581C87"/>
                </a:solidFill>
                <a:latin typeface="Segoe UI"/>
              </a:rPr>
              <a:t>Multi-Category Threat 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303580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Job scam / phishing / harassment, each with advice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79476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39593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827"/>
                </a:solidFill>
                <a:latin typeface="Segoe UI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Named Entity Recognition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500176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PERSON / LOCATION / ORGANIZATION — informational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79476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98848" y="39593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827"/>
                </a:solidFill>
                <a:latin typeface="Segoe UI"/>
              </a:rPr>
              <a:t>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98848" y="45079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78350F"/>
                </a:solidFill>
                <a:latin typeface="Segoe UI"/>
              </a:rPr>
              <a:t>Speech-to-Text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500176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Whisper transcribes spoken Urdu into the pipeline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3794760"/>
            <a:ext cx="3611880" cy="178308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3959352"/>
            <a:ext cx="914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0" i="0">
                <a:solidFill>
                  <a:srgbClr val="111827"/>
                </a:solidFill>
                <a:latin typeface="Segoe UI"/>
              </a:rPr>
              <a:t>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4507992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65F46"/>
                </a:solidFill>
                <a:latin typeface="Segoe UI"/>
              </a:rPr>
              <a:t>Plain-Language Simplify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5001768"/>
            <a:ext cx="3209544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Rewrites verdicts into everyday Urdu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One FastAPI process, one ModelManager, three real entry points, no external database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2331720" cy="786384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764792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E3A8A"/>
                </a:solidFill>
                <a:latin typeface="Sego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984248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E3A8A"/>
                </a:solidFill>
                <a:latin typeface="Segoe UI"/>
              </a:rPr>
              <a:t>Entry Surfaces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1691640"/>
            <a:ext cx="85770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691640"/>
            <a:ext cx="80284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1E3A8A"/>
                </a:solidFill>
                <a:latin typeface="Segoe UI"/>
              </a:rPr>
              <a:t>Website  ·  Gradio Playground  ·  WhatsApp Bot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1627632" y="2459736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2596896"/>
            <a:ext cx="2331720" cy="7863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670048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78350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2889504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78350F"/>
                </a:solidFill>
                <a:latin typeface="Segoe UI"/>
              </a:rPr>
              <a:t>FastAPI Layer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63240" y="2596896"/>
            <a:ext cx="85770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2596896"/>
            <a:ext cx="80284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78350F"/>
                </a:solidFill>
                <a:latin typeface="Segoe UI"/>
              </a:rPr>
              <a:t>/normalize  ·  /risk-score  ·  /ner  ·  /analyze  ·  /feedback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1627632" y="3364992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502152"/>
            <a:ext cx="2331720" cy="786384"/>
          </a:xfrm>
          <a:prstGeom prst="roundRect">
            <a:avLst>
              <a:gd name="adj" fmla="val 6000"/>
            </a:avLst>
          </a:prstGeom>
          <a:solidFill>
            <a:srgbClr val="FDF4FF"/>
          </a:solidFill>
          <a:ln w="12700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575304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581C87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794760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581C87"/>
                </a:solidFill>
                <a:latin typeface="Segoe UI"/>
              </a:rPr>
              <a:t>ModelManager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502152"/>
            <a:ext cx="85770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502152"/>
            <a:ext cx="80284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581C87"/>
                </a:solidFill>
                <a:latin typeface="Segoe UI"/>
              </a:rPr>
              <a:t>Lazy-loads models  ·  Orchestrates pipeline  ·  Graceful fallback</a:t>
            </a:r>
          </a:p>
        </p:txBody>
      </p:sp>
      <p:sp>
        <p:nvSpPr>
          <p:cNvPr id="22" name="Down Arrow 21"/>
          <p:cNvSpPr/>
          <p:nvPr/>
        </p:nvSpPr>
        <p:spPr>
          <a:xfrm>
            <a:off x="1627632" y="4270248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48640" y="4407408"/>
            <a:ext cx="2331720" cy="78638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480560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065F46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700016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65F46"/>
                </a:solidFill>
                <a:latin typeface="Segoe UI"/>
              </a:rPr>
              <a:t>Core Modules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063240" y="4407408"/>
            <a:ext cx="85770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37560" y="4407408"/>
            <a:ext cx="80284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65F46"/>
                </a:solidFill>
                <a:latin typeface="Segoe UI"/>
              </a:rPr>
              <a:t>Normalizer  ·  Risk Scorer  ·  NER  ·  STT  ·  Simplify</a:t>
            </a:r>
          </a:p>
        </p:txBody>
      </p:sp>
      <p:sp>
        <p:nvSpPr>
          <p:cNvPr id="28" name="Down Arrow 27"/>
          <p:cNvSpPr/>
          <p:nvPr/>
        </p:nvSpPr>
        <p:spPr>
          <a:xfrm>
            <a:off x="1627632" y="5175504"/>
            <a:ext cx="274320" cy="164592"/>
          </a:xfrm>
          <a:prstGeom prst="down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5312664"/>
            <a:ext cx="2331720" cy="78638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385816"/>
            <a:ext cx="20116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7F1D1D"/>
                </a:solidFill>
                <a:latin typeface="Segoe UI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605272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7F1D1D"/>
                </a:solidFill>
                <a:latin typeface="Segoe UI"/>
              </a:rPr>
              <a:t>Models &amp; Data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63240" y="5312664"/>
            <a:ext cx="85770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37560" y="5312664"/>
            <a:ext cx="8028432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7F1D1D"/>
                </a:solidFill>
                <a:latin typeface="Segoe UI"/>
              </a:rPr>
              <a:t>LoRA adapter (4.5 MB)  ·  485-word dictionary  ·  feedback.csv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382512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6B7280"/>
                </a:solidFill>
                <a:latin typeface="Segoe UI"/>
              </a:rPr>
              <a:t>Self-hosted: Docker → Hugging Face Spaces, or Colab T4 GPU with a public share link.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One request, six pipeline stages — analyze_text() in app/models/model_manager.py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EFF6FF"/>
          </a:solidFill>
          <a:ln w="12700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2130552"/>
            <a:ext cx="502920" cy="50292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432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1E3A8A"/>
                </a:solidFill>
                <a:latin typeface="Segoe UI"/>
              </a:rPr>
              <a:t>Normalize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0040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Code-switched text →</a:t>
            </a:r>
          </a:p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Urdu script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176272" y="3063240"/>
            <a:ext cx="18288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40864" y="196596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2700">
            <a:solidFill>
              <a:srgbClr val="FCA5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935224" y="2130552"/>
            <a:ext cx="502920" cy="502920"/>
          </a:xfrm>
          <a:prstGeom prst="ellipse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7432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7F1D1D"/>
                </a:solidFill>
                <a:latin typeface="Segoe UI"/>
              </a:rPr>
              <a:t>Risk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32304" y="320040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Max-ensemble:</a:t>
            </a:r>
          </a:p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LoRA vs. heuristic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014216" y="3063240"/>
            <a:ext cx="18288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78808" y="196596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0FDFA"/>
          </a:solidFill>
          <a:ln w="12700">
            <a:solidFill>
              <a:srgbClr val="5EEA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2130552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70248" y="27432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0F766E"/>
                </a:solidFill>
                <a:latin typeface="Segoe UI"/>
              </a:rPr>
              <a:t>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0248" y="320040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Extract PERSON /</a:t>
            </a:r>
          </a:p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LOCATION / ORG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52160" y="3063240"/>
            <a:ext cx="18288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016752" y="196596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DF4FF"/>
          </a:solidFill>
          <a:ln w="12700">
            <a:solidFill>
              <a:srgbClr val="E9D5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11112" y="2130552"/>
            <a:ext cx="502920" cy="502920"/>
          </a:xfrm>
          <a:prstGeom prst="ellipse">
            <a:avLst/>
          </a:prstGeom>
          <a:solidFill>
            <a:srgbClr val="581C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08192" y="27432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581C87"/>
                </a:solidFill>
                <a:latin typeface="Segoe UI"/>
              </a:rPr>
              <a:t>Categorize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08192" y="320040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Job scam / phishing /</a:t>
            </a:r>
          </a:p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harassment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690104" y="3063240"/>
            <a:ext cx="18288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854696" y="196596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2700">
            <a:solidFill>
              <a:srgbClr val="FDE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449056" y="2130552"/>
            <a:ext cx="502920" cy="502920"/>
          </a:xfrm>
          <a:prstGeom prst="ellipse">
            <a:avLst/>
          </a:prstGeom>
          <a:solidFill>
            <a:srgbClr val="7835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46136" y="27432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78350F"/>
                </a:solidFill>
                <a:latin typeface="Segoe UI"/>
              </a:rPr>
              <a:t>Simplify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46136" y="320040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Plain-language</a:t>
            </a:r>
          </a:p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Urdu explanation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9528048" y="3063240"/>
            <a:ext cx="182880" cy="18288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92640" y="1965960"/>
            <a:ext cx="1691640" cy="23774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87000" y="2130552"/>
            <a:ext cx="502920" cy="502920"/>
          </a:xfrm>
          <a:prstGeom prst="ellipse">
            <a:avLst/>
          </a:prstGeom>
          <a:solidFill>
            <a:srgbClr val="065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2743200"/>
            <a:ext cx="1508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600" b="1" i="0">
                <a:solidFill>
                  <a:srgbClr val="065F46"/>
                </a:solidFill>
                <a:latin typeface="Segoe UI"/>
              </a:rPr>
              <a:t>Recommend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3200400"/>
            <a:ext cx="1508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Actionable,</a:t>
            </a:r>
          </a:p>
          <a:p>
            <a:pPr algn="ctr">
              <a:lnSpc>
                <a:spcPct val="108000"/>
              </a:lnSpc>
            </a:pPr>
            <a:r>
              <a:rPr sz="1300" b="0" i="0">
                <a:solidFill>
                  <a:srgbClr val="111827"/>
                </a:solidFill>
                <a:latin typeface="Segoe UI"/>
              </a:rPr>
              <a:t>category-specific advice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4709160"/>
            <a:ext cx="11091672" cy="1645920"/>
          </a:xfrm>
          <a:prstGeom prst="roundRect">
            <a:avLst>
              <a:gd name="adj" fmla="val 6000"/>
            </a:avLst>
          </a:prstGeom>
          <a:solidFill>
            <a:srgbClr val="F9FAFB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86460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Example, live: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166360"/>
            <a:ext cx="106070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0F766E"/>
                </a:solidFill>
                <a:latin typeface="Consolas"/>
              </a:rPr>
              <a:t>"job available 50000 per week send processing fee"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0F766E"/>
                </a:solidFill>
                <a:latin typeface="Consolas"/>
              </a:rPr>
              <a:t>→  score 1.00, HIGH, "Fake Job Posting"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053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1">
                <a:solidFill>
                  <a:srgbClr val="6B7280"/>
                </a:solidFill>
                <a:latin typeface="Segoe UI"/>
              </a:rPr>
              <a:t>Every stage runs in-process — no external API calls, sub-second response.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Technical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Real technologies, real numbers — every figure below is from a committed, reproducible test run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Model &amp;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1284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Base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2374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xlm-roberta-base — 270M 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815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9242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LoRA, r=16, α=32 → 4.5 MB adapter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5020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Training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6110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~80k rows: PURUTT (72.7k) + synthetic scam (1.5k) + supplementary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1888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978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Temperature scaling, T = 1.409 (grid search, 100 values)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Stack &amp; Tooling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21284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52374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FastAPI + Pydantic, PEFT, Transformers, PyTorch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8152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9242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XLM-RoBERTa fine-tuned on WikiAnn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95020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Speech-to-text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26110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OpenAI Whisper (base)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818888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111827"/>
                </a:solidFill>
                <a:latin typeface="Segoe UI"/>
              </a:rPr>
              <a:t>Retrieval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129784"/>
            <a:ext cx="5394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B7280"/>
                </a:solidFill>
                <a:latin typeface="Segoe UI"/>
              </a:rPr>
              <a:t>FAISS + char-3-gram TF-IDF for fuzzy normalization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806440"/>
            <a:ext cx="11091672" cy="68580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943600"/>
            <a:ext cx="10607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Verified: 89.7% accuracy · 87.1% F1 (107 test examples) · 12/12 adversarial cases · 46/46 unit tests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UI/UX &amp;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Real, live output — not a mockup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4_gradio_result_slide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44337"/>
            <a:ext cx="6949440" cy="409520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1783080"/>
            <a:ext cx="6949440" cy="4617720"/>
          </a:xfrm>
          <a:prstGeom prst="roundRect">
            <a:avLst>
              <a:gd name="adj" fmla="val 6000"/>
            </a:avLst>
          </a:prstGeom>
          <a:noFill/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5240" y="17830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F766E"/>
                </a:solidFill>
                <a:latin typeface="Segoe UI"/>
              </a:rPr>
              <a:t>What the user sees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35240" y="2194560"/>
            <a:ext cx="40233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Segoe UI"/>
              </a:rPr>
              <a:t>•  Paste any suspicious text — Roman Urdu, Urdu script, or English mix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Segoe UI"/>
              </a:rPr>
              <a:t>•  Risk verdict with score and confidence, in one glance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Segoe UI"/>
              </a:rPr>
              <a:t>•  Threat type: fake job posting, phishing, or harassment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Segoe UI"/>
              </a:rPr>
              <a:t>•  Exactly which phrases drove the score, with weights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Segoe UI"/>
              </a:rPr>
              <a:t>•  Normalized Urdu-script text, and a plain-language explanation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Segoe UI"/>
              </a:rPr>
              <a:t>•  A specific recommendation — not just a red flag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450">
                <a:solidFill>
                  <a:srgbClr val="111827"/>
                </a:solidFill>
                <a:latin typeface="Segoe UI"/>
              </a:rPr>
              <a:t>•  Optional feedback loop feeds future retraining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400" b="1" i="0">
                <a:solidFill>
                  <a:srgbClr val="111827"/>
                </a:solidFill>
                <a:latin typeface="Segoe UI"/>
              </a:rPr>
              <a:t>Impact &amp;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33856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600" b="0" i="0">
                <a:solidFill>
                  <a:srgbClr val="6B7280"/>
                </a:solidFill>
                <a:latin typeface="Segoe UI"/>
              </a:rPr>
              <a:t>Built for the people existing tools don't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17904"/>
            <a:ext cx="1109167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539496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111827"/>
                </a:solidFill>
                <a:latin typeface="Segoe UI"/>
              </a:rPr>
              <a:t>•  Protects a real, underserved population</a:t>
            </a:r>
          </a:p>
          <a:p>
            <a:pPr>
              <a:spcAft>
                <a:spcPts val="1600"/>
              </a:spcAft>
            </a:pPr>
            <a:r>
              <a:rPr sz="1400">
                <a:solidFill>
                  <a:srgbClr val="6B7280"/>
                </a:solidFill>
                <a:latin typeface="Segoe UI"/>
              </a:rPr>
              <a:t>     Roman-Urdu speakers fall through the gap between English moderation and Urdu-script-only tools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111827"/>
                </a:solidFill>
                <a:latin typeface="Segoe UI"/>
              </a:rPr>
              <a:t>•  Explainable, not a black box</a:t>
            </a:r>
          </a:p>
          <a:p>
            <a:pPr>
              <a:spcAft>
                <a:spcPts val="1600"/>
              </a:spcAft>
            </a:pPr>
            <a:r>
              <a:rPr sz="1400">
                <a:solidFill>
                  <a:srgbClr val="6B7280"/>
                </a:solidFill>
                <a:latin typeface="Segoe UI"/>
              </a:rPr>
              <a:t>     Users see why a message was flagged — builds trust, and teaches pattern recognition over time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111827"/>
                </a:solidFill>
                <a:latin typeface="Segoe UI"/>
              </a:rPr>
              <a:t>•  Meets people where scams land</a:t>
            </a:r>
          </a:p>
          <a:p>
            <a:pPr>
              <a:spcAft>
                <a:spcPts val="1600"/>
              </a:spcAft>
            </a:pPr>
            <a:r>
              <a:rPr sz="1400">
                <a:solidFill>
                  <a:srgbClr val="6B7280"/>
                </a:solidFill>
                <a:latin typeface="Segoe UI"/>
              </a:rPr>
              <a:t>     Website, Gradio demo, and a WhatsApp bot — not locked behind a developer-only API</a:t>
            </a:r>
          </a:p>
          <a:p>
            <a:pPr>
              <a:lnSpc>
                <a:spcPct val="112000"/>
              </a:lnSpc>
              <a:spcAft>
                <a:spcPts val="1600"/>
              </a:spcAft>
            </a:pPr>
            <a:r>
              <a:rPr sz="1800" b="1">
                <a:solidFill>
                  <a:srgbClr val="111827"/>
                </a:solidFill>
                <a:latin typeface="Segoe UI"/>
              </a:rPr>
              <a:t>•  Zero marginal cost, private by design</a:t>
            </a:r>
          </a:p>
          <a:p>
            <a:pPr>
              <a:spcAft>
                <a:spcPts val="1600"/>
              </a:spcAft>
            </a:pPr>
            <a:r>
              <a:rPr sz="1400">
                <a:solidFill>
                  <a:srgbClr val="6B7280"/>
                </a:solidFill>
                <a:latin typeface="Segoe UI"/>
              </a:rPr>
              <a:t>     Self-hosted; no per-request fee, no data sent to a third-party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783080"/>
            <a:ext cx="5330952" cy="411480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 w="12700">
            <a:solidFill>
              <a:srgbClr val="6EE7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96596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700" b="1" i="0">
                <a:solidFill>
                  <a:srgbClr val="065F46"/>
                </a:solidFill>
                <a:latin typeface="Segoe UI"/>
              </a:rPr>
              <a:t>Scalability &amp; future potential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423160"/>
            <a:ext cx="484632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Same architecture extends to other code-switched, under-resourced languages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Active-learning feedback loop already collects real corrections for retraining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Multi-category detection can expand to lottery, charity, investment, and loan scams — synthetic data for all 7 already exists</a:t>
            </a:r>
          </a:p>
          <a:p>
            <a:pPr>
              <a:lnSpc>
                <a:spcPct val="112000"/>
              </a:lnSpc>
              <a:spcAft>
                <a:spcPts val="1200"/>
              </a:spcAft>
            </a:pPr>
            <a:r>
              <a:rPr sz="1500">
                <a:solidFill>
                  <a:srgbClr val="111827"/>
                </a:solidFill>
                <a:latin typeface="Segoe UI"/>
              </a:rPr>
              <a:t>•  WhatsApp bot is the highest-leverage distribution channel — reaches victims, not just judges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3200" b="1" i="0">
                <a:solidFill>
                  <a:srgbClr val="FFFFFF"/>
                </a:solidFill>
                <a:latin typeface="Segoe UI"/>
              </a:rPr>
              <a:t>Conclusion &amp; Future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10908792" cy="27940"/>
          </a:xfrm>
          <a:prstGeom prst="rect">
            <a:avLst/>
          </a:prstGeom>
          <a:solidFill>
            <a:srgbClr val="5EEA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5EEAD4"/>
                </a:solidFill>
                <a:latin typeface="Segoe UI"/>
              </a:rPr>
              <a:t>What we achieved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539496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A working, code-switch-aware detection pipeline — trained, calibrated, and evaluated on real data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Verified semantic generalization beyond keyword matching, not just claimed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Three real, working surfaces sharing one decision engine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Honest, evidence-backed documentation of what works and what doesn't yet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800" b="1" i="0">
                <a:solidFill>
                  <a:srgbClr val="5EEAD4"/>
                </a:solidFill>
                <a:latin typeface="Segoe UI"/>
              </a:rPr>
              <a:t>What's next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5120640" cy="3931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Close the remaining threat-detection gaps with targeted retraining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Ship the full 6.37M-sentence frequency map for Tier-1 normalization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Move the WhatsApp bot from demo-time to a persistent, always-on deployment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650">
                <a:solidFill>
                  <a:srgbClr val="FFFFFF"/>
                </a:solidFill>
                <a:latin typeface="Segoe UI"/>
              </a:rPr>
              <a:t>•  Expand multi-category detection to all 7 scam types already in the training data generator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989320"/>
            <a:ext cx="10908792" cy="594360"/>
          </a:xfrm>
          <a:prstGeom prst="roundRect">
            <a:avLst>
              <a:gd name="adj" fmla="val 6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08192"/>
            <a:ext cx="109087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700" b="1" i="0">
                <a:solidFill>
                  <a:srgbClr val="FFFFFF"/>
                </a:solidFill>
                <a:latin typeface="Segoe UI"/>
              </a:rPr>
              <a:t>UrduStack — because the language your users actually type in deserves real protection.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